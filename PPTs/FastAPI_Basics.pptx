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7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1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4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4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1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5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2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6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014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2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400" dirty="0" err="1">
                <a:solidFill>
                  <a:schemeClr val="tx1"/>
                </a:solidFill>
              </a:rPr>
              <a:t>FastAPI</a:t>
            </a:r>
            <a:r>
              <a:rPr sz="4400" dirty="0">
                <a:solidFill>
                  <a:schemeClr val="tx1"/>
                </a:solidFill>
              </a:rPr>
              <a:t> — Beginner-Friendly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core concepts, request handling, validation, responses, errors, </a:t>
            </a:r>
            <a:endParaRPr lang="en-US" sz="1800" dirty="0"/>
          </a:p>
          <a:p>
            <a:r>
              <a:rPr sz="1800" dirty="0"/>
              <a:t>routing, dependencies, and async programming.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000"/>
            </a:pPr>
            <a:r>
              <a:t>Python prerequisites needed for FastAPI</a:t>
            </a:r>
          </a:p>
          <a:p>
            <a:pPr>
              <a:defRPr sz="2000"/>
            </a:pPr>
            <a:r>
              <a:t>First FastAPI application and routes</a:t>
            </a:r>
          </a:p>
          <a:p>
            <a:pPr>
              <a:defRPr sz="2000"/>
            </a:pPr>
            <a:r>
              <a:t>HTTP methods and interactive documentation</a:t>
            </a:r>
          </a:p>
          <a:p>
            <a:pPr>
              <a:defRPr sz="2000"/>
            </a:pPr>
            <a:r>
              <a:t>Path and query parameters</a:t>
            </a:r>
          </a:p>
          <a:p>
            <a:pPr>
              <a:defRPr sz="2000"/>
            </a:pPr>
            <a:r>
              <a:t>Request bodies and Pydantic validation</a:t>
            </a:r>
          </a:p>
          <a:p>
            <a:pPr>
              <a:defRPr sz="2000"/>
            </a:pPr>
            <a:r>
              <a:t>Response models, status codes, and errors</a:t>
            </a:r>
          </a:p>
          <a:p>
            <a:pPr>
              <a:defRPr sz="2000"/>
            </a:pPr>
            <a:r>
              <a:t>Route organization with APIRouter</a:t>
            </a:r>
          </a:p>
          <a:p>
            <a:pPr>
              <a:defRPr sz="2000"/>
            </a:pPr>
            <a:r>
              <a:t>Dependency Injection with Depends</a:t>
            </a:r>
          </a:p>
          <a:p>
            <a:pPr>
              <a:defRPr sz="2000"/>
            </a:pPr>
            <a:r>
              <a:t>Async and await</a:t>
            </a:r>
          </a:p>
          <a:p>
            <a:pPr>
              <a:defRPr sz="2000"/>
            </a:pPr>
            <a:r>
              <a:t>Practice project: To-Do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0 — Python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Before using FastAPI, understand foundational Python concepts.</a:t>
            </a:r>
          </a:p>
          <a:p>
            <a:pPr>
              <a:defRPr sz="2000"/>
            </a:pPr>
            <a:r>
              <a:t>Modules and imports</a:t>
            </a:r>
          </a:p>
          <a:p>
            <a:pPr>
              <a:defRPr sz="2000"/>
            </a:pPr>
            <a:r>
              <a:t>Classes and instances</a:t>
            </a:r>
          </a:p>
          <a:p>
            <a:pPr>
              <a:defRPr sz="2000"/>
            </a:pPr>
            <a:r>
              <a:t>Decorators</a:t>
            </a:r>
          </a:p>
          <a:p>
            <a:pPr>
              <a:defRPr sz="2000"/>
            </a:pPr>
            <a:r>
              <a:t>Dictionaries</a:t>
            </a:r>
          </a:p>
          <a:p>
            <a:pPr>
              <a:defRPr sz="2000"/>
            </a:pPr>
            <a:r>
              <a:t>Type hints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and Imports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Python file ending in .py is a module.</a:t>
            </a:r>
          </a:p>
          <a:p>
            <a:pPr>
              <a:defRPr sz="2000"/>
            </a:pPr>
            <a:r>
              <a:t>The import mechanism allows code from another module to be reused.</a:t>
            </a:r>
          </a:p>
          <a:p>
            <a:pPr>
              <a:defRPr sz="2000"/>
            </a:pPr>
            <a:r>
              <a:t>Imports can bring in an entire module or selected members.</a:t>
            </a:r>
          </a:p>
          <a:p>
            <a:pPr>
              <a:defRPr sz="2000"/>
            </a:pPr>
            <a:r>
              <a:t>FastAPI applications commonly import the FastAPI class from the fastapi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and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class is a blueprint for creating objects.</a:t>
            </a:r>
          </a:p>
          <a:p>
            <a:pPr>
              <a:defRPr sz="2000"/>
            </a:pPr>
            <a:r>
              <a:t>An instance is a concrete object created from that blueprint.</a:t>
            </a:r>
          </a:p>
          <a:p>
            <a:pPr>
              <a:defRPr sz="2000"/>
            </a:pPr>
            <a:r>
              <a:t>Methods are functions defined inside a class.</a:t>
            </a:r>
          </a:p>
          <a:p>
            <a:pPr>
              <a:defRPr sz="2000"/>
            </a:pPr>
            <a:r>
              <a:t>A FastAPI application is created by instantiating the FastAPI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decorator modifies or registers a function using the @ syntax.</a:t>
            </a:r>
          </a:p>
          <a:p>
            <a:pPr>
              <a:defRPr sz="2000"/>
            </a:pPr>
            <a:r>
              <a:t>A decorator can take a function, wrap or modify its behavior, and return a function.</a:t>
            </a:r>
          </a:p>
          <a:p>
            <a:pPr>
              <a:defRPr sz="2000"/>
            </a:pPr>
            <a:r>
              <a:t>FastAPI uses decorators to associate functions with HTTP routes.</a:t>
            </a:r>
          </a:p>
          <a:p>
            <a:pPr>
              <a:defRPr sz="2000"/>
            </a:pPr>
            <a:r>
              <a:t>A route decorator tells FastAPI which handler should respond to a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Dictionaries and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dictionary stores key → value pairs.</a:t>
            </a:r>
          </a:p>
          <a:p>
            <a:pPr>
              <a:defRPr sz="2000"/>
            </a:pPr>
            <a:r>
              <a:t>FastAPI can return Python dictionaries from route functions.</a:t>
            </a:r>
          </a:p>
          <a:p>
            <a:pPr>
              <a:defRPr sz="2000"/>
            </a:pPr>
            <a:r>
              <a:t>FastAPI converts returned Python data into JSON responses.</a:t>
            </a:r>
          </a:p>
          <a:p>
            <a:pPr>
              <a:defRPr sz="2000"/>
            </a:pPr>
            <a:r>
              <a:t>JSON is a common data format used for communication between clients and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Hints — FastAPI's Superpower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type hints describe expected types of parameters and return values.</a:t>
            </a:r>
          </a:p>
          <a:p>
            <a:pPr>
              <a:defRPr sz="2000"/>
            </a:pPr>
            <a:r>
              <a:t>FastAPI reads type hints to understand request data.</a:t>
            </a:r>
          </a:p>
          <a:p>
            <a:pPr>
              <a:defRPr sz="2000"/>
            </a:pPr>
            <a:r>
              <a:t>Type hints enable automatic conversion and validation.</a:t>
            </a:r>
          </a:p>
          <a:p>
            <a:pPr>
              <a:defRPr sz="2000"/>
            </a:pPr>
            <a:r>
              <a:t>For example, an integer path parameter can be converted from URL text into an integer before the function runs.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— Your First FastAPI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minimal FastAPI application needs an application instance.</a:t>
            </a:r>
          </a:p>
          <a:p>
            <a:pPr>
              <a:defRPr sz="2000"/>
            </a:pPr>
            <a:r>
              <a:t>The application object stores routes, configuration, and other application information.</a:t>
            </a:r>
          </a:p>
          <a:p>
            <a:pPr>
              <a:defRPr sz="2000"/>
            </a:pPr>
            <a:r>
              <a:t>An ASGI server such as Uvicorn runs the application.</a:t>
            </a:r>
          </a:p>
          <a:p>
            <a:pPr>
              <a:defRPr sz="2000"/>
            </a:pPr>
            <a:r>
              <a:t>Development reload mode can automatically restart the server when source files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Understanding the Development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Uvicorn is the server that hosts the FastAPI application.</a:t>
            </a:r>
          </a:p>
          <a:p>
            <a:pPr>
              <a:defRPr sz="2000"/>
            </a:pPr>
            <a:r>
              <a:t>The module name identifies the Python file containing the application.</a:t>
            </a:r>
          </a:p>
          <a:p>
            <a:pPr>
              <a:defRPr sz="2000"/>
            </a:pPr>
            <a:r>
              <a:t>The application variable identifies the FastAPI instance.</a:t>
            </a:r>
          </a:p>
          <a:p>
            <a:pPr>
              <a:defRPr sz="2000"/>
            </a:pPr>
            <a:r>
              <a:t>localhost / 127.0.0.1 refers to the local computer.</a:t>
            </a:r>
          </a:p>
          <a:p>
            <a:pPr>
              <a:defRPr sz="2000"/>
            </a:pPr>
            <a:r>
              <a:t>A port acts like a numbered communication door on the computer.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Routes and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route connects an HTTP method and path to a Python function.</a:t>
            </a:r>
          </a:p>
          <a:p>
            <a:pPr>
              <a:defRPr sz="2000"/>
            </a:pPr>
            <a:r>
              <a:t>GET is commonly used to retrieve data.</a:t>
            </a:r>
          </a:p>
          <a:p>
            <a:pPr>
              <a:defRPr sz="2000"/>
            </a:pPr>
            <a:r>
              <a:t>The path identifies the resource being requested.</a:t>
            </a:r>
          </a:p>
          <a:p>
            <a:pPr>
              <a:defRPr sz="2000"/>
            </a:pPr>
            <a:r>
              <a:t>The route handler executes when the incoming request matches the method and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Response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route function can return dictionaries, lists, strings, numbers, or None.</a:t>
            </a:r>
          </a:p>
          <a:p>
            <a:pPr>
              <a:defRPr sz="2000"/>
            </a:pPr>
            <a:r>
              <a:t>FastAPI converts returned values into JSON-compatible response data.</a:t>
            </a:r>
          </a:p>
          <a:p>
            <a:pPr>
              <a:defRPr sz="2000"/>
            </a:pPr>
            <a:r>
              <a:t>Python True becomes JSON true.</a:t>
            </a:r>
          </a:p>
          <a:p>
            <a:pPr>
              <a:defRPr sz="2000"/>
            </a:pPr>
            <a:r>
              <a:t>Python None becomes JSON null.</a:t>
            </a:r>
          </a:p>
          <a:p>
            <a:pPr>
              <a:defRPr sz="2000"/>
            </a:pPr>
            <a:r>
              <a:t>The returned value becomes the response body.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— HTTP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HTTP request contains a method, path, and optional headers, query parameters, and body.</a:t>
            </a:r>
          </a:p>
          <a:p>
            <a:pPr>
              <a:defRPr sz="2000"/>
            </a:pPr>
            <a:r>
              <a:t>GET — read data</a:t>
            </a:r>
          </a:p>
          <a:p>
            <a:pPr>
              <a:defRPr sz="2000"/>
            </a:pPr>
            <a:r>
              <a:t>POST — create data</a:t>
            </a:r>
          </a:p>
          <a:p>
            <a:pPr>
              <a:defRPr sz="2000"/>
            </a:pPr>
            <a:r>
              <a:t>PUT — replace existing data</a:t>
            </a:r>
          </a:p>
          <a:p>
            <a:pPr>
              <a:defRPr sz="2000"/>
            </a:pPr>
            <a:r>
              <a:t>PATCH — partially update data</a:t>
            </a:r>
          </a:p>
          <a:p>
            <a:pPr>
              <a:defRPr sz="2000"/>
            </a:pPr>
            <a:r>
              <a:t>DELETE — remove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Methods — 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GET generally reads a resource.</a:t>
            </a:r>
          </a:p>
          <a:p>
            <a:pPr>
              <a:defRPr sz="2000"/>
            </a:pPr>
            <a:r>
              <a:t>POST generally creates something new.</a:t>
            </a:r>
          </a:p>
          <a:p>
            <a:pPr>
              <a:defRPr sz="2000"/>
            </a:pPr>
            <a:r>
              <a:t>PUT replaces an existing representation.</a:t>
            </a:r>
          </a:p>
          <a:p>
            <a:pPr>
              <a:defRPr sz="2000"/>
            </a:pPr>
            <a:r>
              <a:t>PATCH changes selected fields.</a:t>
            </a:r>
          </a:p>
          <a:p>
            <a:pPr>
              <a:defRPr sz="2000"/>
            </a:pPr>
            <a:r>
              <a:t>DELETE removes a resource.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API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FastAPI automatically generates interactive API documentation.</a:t>
            </a:r>
          </a:p>
          <a:p>
            <a:pPr>
              <a:defRPr sz="2000"/>
            </a:pPr>
            <a:r>
              <a:t>Swagger UI provides an interactive view of available routes.</a:t>
            </a:r>
          </a:p>
          <a:p>
            <a:pPr>
              <a:defRPr sz="2000"/>
            </a:pPr>
            <a:r>
              <a:t>Requests can be executed directly from the documentation interface.</a:t>
            </a:r>
          </a:p>
          <a:p>
            <a:pPr>
              <a:defRPr sz="2000"/>
            </a:pPr>
            <a:r>
              <a:t>ReDoc provides another documentation view.</a:t>
            </a:r>
          </a:p>
          <a:p>
            <a:pPr>
              <a:defRPr sz="2000"/>
            </a:pPr>
            <a:r>
              <a:t>The documentation is useful while learning and developing APIs.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 — Path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path parameter is a variable part of the URL path.</a:t>
            </a:r>
          </a:p>
          <a:p>
            <a:pPr>
              <a:defRPr sz="2000"/>
            </a:pPr>
            <a:r>
              <a:t>Example concept: /users/{user_id}</a:t>
            </a:r>
          </a:p>
          <a:p>
            <a:pPr>
              <a:defRPr sz="2000"/>
            </a:pPr>
            <a:r>
              <a:t>The placeholder identifies a value that changes from request to request.</a:t>
            </a:r>
          </a:p>
          <a:p>
            <a:pPr>
              <a:defRPr sz="2000"/>
            </a:pPr>
            <a:r>
              <a:t>Path parameter names must correspond to the handler parameters.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Parameters and 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URL values arrive as text.</a:t>
            </a:r>
          </a:p>
          <a:p>
            <a:pPr>
              <a:defRPr sz="2000"/>
            </a:pPr>
            <a:r>
              <a:t>A type hint tells FastAPI what type the value should become.</a:t>
            </a:r>
          </a:p>
          <a:p>
            <a:pPr>
              <a:defRPr sz="2000"/>
            </a:pPr>
            <a:r>
              <a:t>FastAPI can convert a path value such as '42' into the integer 42.</a:t>
            </a:r>
          </a:p>
          <a:p>
            <a:pPr>
              <a:defRPr sz="2000"/>
            </a:pPr>
            <a:r>
              <a:t>If conversion fails, FastAPI automatically returns a validation error.</a:t>
            </a:r>
          </a:p>
          <a:p>
            <a:pPr>
              <a:defRPr sz="2000"/>
            </a:pPr>
            <a:r>
              <a:t>This eliminates manual conversion and basic validation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Path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endpoint can contain more than one path parameter.</a:t>
            </a:r>
          </a:p>
          <a:p>
            <a:pPr>
              <a:defRPr sz="2000"/>
            </a:pPr>
            <a:r>
              <a:t>Each parameter represents a different part of the resource hierarchy.</a:t>
            </a:r>
          </a:p>
          <a:p>
            <a:pPr>
              <a:defRPr sz="2000"/>
            </a:pPr>
            <a:r>
              <a:t>The URL structure defines where each value comes from.</a:t>
            </a:r>
          </a:p>
          <a:p>
            <a:pPr>
              <a:defRPr sz="2000"/>
            </a:pPr>
            <a:r>
              <a:t>This is useful for nested resources such as users and their posts.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Parameter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Path parameters can have validation constraints.</a:t>
            </a:r>
          </a:p>
          <a:p>
            <a:pPr>
              <a:defRPr sz="2000"/>
            </a:pPr>
            <a:r>
              <a:t>Constraints can require values to be greater than, less than, or within a specified range.</a:t>
            </a:r>
          </a:p>
          <a:p>
            <a:pPr>
              <a:defRPr sz="2000"/>
            </a:pPr>
            <a:r>
              <a:t>Invalid values are rejected automatically.</a:t>
            </a:r>
          </a:p>
          <a:p>
            <a:pPr>
              <a:defRPr sz="2000"/>
            </a:pPr>
            <a:r>
              <a:t>This moves input validation closer to the API definition.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 — Query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Query parameters appear after ? in a URL.</a:t>
            </a:r>
          </a:p>
          <a:p>
            <a:pPr>
              <a:defRPr sz="2000"/>
            </a:pPr>
            <a:r>
              <a:t>Multiple query parameters are separated using &amp;.</a:t>
            </a:r>
          </a:p>
          <a:p>
            <a:pPr>
              <a:defRPr sz="2000"/>
            </a:pPr>
            <a:r>
              <a:t>They are commonly used for filtering, searching, pagination, and optional settings.</a:t>
            </a:r>
          </a:p>
          <a:p>
            <a:pPr>
              <a:defRPr sz="2000"/>
            </a:pPr>
            <a:r>
              <a:t>Parameters not included in the path are generally interpreted as query parameters.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Required vs Optional Query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query parameter without a default value is required.</a:t>
            </a:r>
          </a:p>
          <a:p>
            <a:pPr>
              <a:defRPr sz="2000"/>
            </a:pPr>
            <a:r>
              <a:t>A default value makes a query parameter optional.</a:t>
            </a:r>
          </a:p>
          <a:p>
            <a:pPr>
              <a:defRPr sz="2000"/>
            </a:pPr>
            <a:r>
              <a:t>None can be used when the absence of a value has meaning.</a:t>
            </a:r>
          </a:p>
          <a:p>
            <a:pPr>
              <a:defRPr sz="2000"/>
            </a:pPr>
            <a:r>
              <a:t>Type hints describe the expected query parameter type.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Parameter 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FastAPI converts query parameter text into the declared type.</a:t>
            </a:r>
          </a:p>
          <a:p>
            <a:pPr>
              <a:defRPr sz="2000"/>
            </a:pPr>
            <a:r>
              <a:t>Common examples include integers and booleans.</a:t>
            </a:r>
          </a:p>
          <a:p>
            <a:pPr>
              <a:defRPr sz="2000"/>
            </a:pPr>
            <a:r>
              <a:t>Default values are used when optional parameters are omitted.</a:t>
            </a:r>
          </a:p>
          <a:p>
            <a:pPr>
              <a:defRPr sz="2000"/>
            </a:pPr>
            <a:r>
              <a:t>FastAPI performs validation before the route function executes.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Combining Path and Query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endpoint can use path parameters and query parameters together.</a:t>
            </a:r>
          </a:p>
          <a:p>
            <a:pPr>
              <a:defRPr sz="2000"/>
            </a:pPr>
            <a:r>
              <a:t>FastAPI determines the source of each parameter from the route definition and function signature.</a:t>
            </a:r>
          </a:p>
          <a:p>
            <a:pPr>
              <a:defRPr sz="2000"/>
            </a:pPr>
            <a:r>
              <a:t>Path parameters identify the resource.</a:t>
            </a:r>
          </a:p>
          <a:p>
            <a:pPr>
              <a:defRPr sz="2000"/>
            </a:pPr>
            <a:r>
              <a:t>Query parameters can control filtering, pagination, or other request options.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 — Request Bodies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Complex data is commonly sent in the request body.</a:t>
            </a:r>
          </a:p>
          <a:p>
            <a:pPr>
              <a:defRPr sz="2000"/>
            </a:pPr>
            <a:r>
              <a:t>POST, PUT, and PATCH requests frequently carry JSON payloads.</a:t>
            </a:r>
          </a:p>
          <a:p>
            <a:pPr>
              <a:defRPr sz="2000"/>
            </a:pPr>
            <a:r>
              <a:t>A request body can represent nested objects and collections.</a:t>
            </a:r>
          </a:p>
          <a:p>
            <a:pPr>
              <a:defRPr sz="2000"/>
            </a:pPr>
            <a:r>
              <a:t>Putting complex structures into the URL would be difficult and unsuitable.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Pydantic — </a:t>
            </a:r>
            <a:r>
              <a:rPr sz="4000" dirty="0" err="1"/>
              <a:t>FastAPI's</a:t>
            </a:r>
            <a:r>
              <a:rPr sz="4000" dirty="0"/>
              <a:t> Validation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FastAPI uses Pydantic models to define and validate structured request data.</a:t>
            </a:r>
          </a:p>
          <a:p>
            <a:pPr>
              <a:defRPr sz="2000"/>
            </a:pPr>
            <a:r>
              <a:t>A model describes expected fields and their types.</a:t>
            </a:r>
          </a:p>
          <a:p>
            <a:pPr>
              <a:defRPr sz="2000"/>
            </a:pPr>
            <a:r>
              <a:t>Defaults can define optional fields.</a:t>
            </a:r>
          </a:p>
          <a:p>
            <a:pPr>
              <a:defRPr sz="2000"/>
            </a:pPr>
            <a:r>
              <a:t>The model becomes a clear contract for incoming JSON 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Body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FastAPI reads the incoming JSON body.</a:t>
            </a:r>
          </a:p>
          <a:p>
            <a:pPr>
              <a:defRPr sz="2000"/>
            </a:pPr>
            <a:r>
              <a:t>Pydantic validates the fields and their types.</a:t>
            </a:r>
          </a:p>
          <a:p>
            <a:pPr>
              <a:defRPr sz="2000"/>
            </a:pPr>
            <a:r>
              <a:t>Default values are applied when appropriate.</a:t>
            </a:r>
          </a:p>
          <a:p>
            <a:pPr>
              <a:defRPr sz="2000"/>
            </a:pPr>
            <a:r>
              <a:t>A validated model instance is passed to the route function.</a:t>
            </a:r>
          </a:p>
          <a:p>
            <a:pPr>
              <a:defRPr sz="2000"/>
            </a:pPr>
            <a:r>
              <a:t>Application code can work with validated attributes instead of raw JSON.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Pydantic models can contain other Pydantic models.</a:t>
            </a:r>
          </a:p>
          <a:p>
            <a:pPr>
              <a:defRPr sz="2000"/>
            </a:pPr>
            <a:r>
              <a:t>Nested structures are validated recursively.</a:t>
            </a:r>
          </a:p>
          <a:p>
            <a:pPr>
              <a:defRPr sz="2000"/>
            </a:pPr>
            <a:r>
              <a:t>This allows APIs to represent real-world objects with structured sub-objects.</a:t>
            </a:r>
          </a:p>
          <a:p>
            <a:pPr>
              <a:defRPr sz="2000"/>
            </a:pPr>
            <a:r>
              <a:t>Nested validation keeps request contracts explicit.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 of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model field can represent a list of other models.</a:t>
            </a:r>
          </a:p>
          <a:p>
            <a:pPr>
              <a:defRPr sz="2000"/>
            </a:pPr>
            <a:r>
              <a:t>Every element in the list is validated against its declared model.</a:t>
            </a:r>
          </a:p>
          <a:p>
            <a:pPr>
              <a:defRPr sz="2000"/>
            </a:pPr>
            <a:r>
              <a:t>This is useful for collections such as tags, items, addresses, or line entries.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Validation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Type checking can be supplemented with field constraints.</a:t>
            </a:r>
          </a:p>
          <a:p>
            <a:pPr>
              <a:defRPr sz="2000"/>
            </a:pPr>
            <a:r>
              <a:t>String fields can have minimum and maximum lengths.</a:t>
            </a:r>
          </a:p>
          <a:p>
            <a:pPr>
              <a:defRPr sz="2000"/>
            </a:pPr>
            <a:r>
              <a:t>Numeric fields can have greater-than or less-than constraints.</a:t>
            </a:r>
          </a:p>
          <a:p>
            <a:pPr>
              <a:defRPr sz="2000"/>
            </a:pPr>
            <a:r>
              <a:t>Validation rules are expressed as part of the data model.</a:t>
            </a:r>
          </a:p>
          <a:p>
            <a:pPr>
              <a:defRPr sz="2000"/>
            </a:pPr>
            <a:r>
              <a:t>Invalid input produces structured validation errors.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 — Response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Request models describe what the API accepts.</a:t>
            </a:r>
          </a:p>
          <a:p>
            <a:pPr>
              <a:defRPr sz="2000"/>
            </a:pPr>
            <a:r>
              <a:t>Response models describe what the API sends back.</a:t>
            </a:r>
          </a:p>
          <a:p>
            <a:pPr>
              <a:defRPr sz="2000"/>
            </a:pPr>
            <a:r>
              <a:t>Separating input and output models helps prevent accidental exposure of sensitive fields.</a:t>
            </a:r>
          </a:p>
          <a:p>
            <a:pPr>
              <a:defRPr sz="2000"/>
            </a:pPr>
            <a:r>
              <a:t>Response models create a controlled public response contract.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Response Models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Incoming data may contain fields that should never be returned.</a:t>
            </a:r>
          </a:p>
          <a:p>
            <a:pPr>
              <a:defRPr sz="2000"/>
            </a:pPr>
            <a:r>
              <a:t>Examples include passwords and internal information.</a:t>
            </a:r>
          </a:p>
          <a:p>
            <a:pPr>
              <a:defRPr sz="2000"/>
            </a:pPr>
            <a:r>
              <a:t>A response model can filter the returned representation.</a:t>
            </a:r>
          </a:p>
          <a:p>
            <a:pPr>
              <a:defRPr sz="2000"/>
            </a:pPr>
            <a:r>
              <a:t>This provides an additional layer of control over API responses.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 — HTTP Status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Every HTTP response has a three-digit status code.</a:t>
            </a:r>
          </a:p>
          <a:p>
            <a:pPr>
              <a:defRPr sz="2000"/>
            </a:pPr>
            <a:r>
              <a:t>2xx — successful requests</a:t>
            </a:r>
          </a:p>
          <a:p>
            <a:pPr>
              <a:defRPr sz="2000"/>
            </a:pPr>
            <a:r>
              <a:t>3xx — redirection</a:t>
            </a:r>
          </a:p>
          <a:p>
            <a:pPr>
              <a:defRPr sz="2000"/>
            </a:pPr>
            <a:r>
              <a:t>4xx — client-side errors</a:t>
            </a:r>
          </a:p>
          <a:p>
            <a:pPr>
              <a:defRPr sz="2000"/>
            </a:pPr>
            <a:r>
              <a:t>5xx — server-side errors</a:t>
            </a:r>
          </a:p>
          <a:p>
            <a:pPr>
              <a:defRPr sz="2000"/>
            </a:pPr>
            <a:r>
              <a:t>FastAPI can use explicit status codes when an endpoint has a specific outcome.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Status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t>200 OK — successful request</a:t>
            </a:r>
          </a:p>
          <a:p>
            <a:pPr>
              <a:defRPr sz="2000"/>
            </a:pPr>
            <a:r>
              <a:t>201 Created — resource successfully created</a:t>
            </a:r>
          </a:p>
          <a:p>
            <a:pPr>
              <a:defRPr sz="2000"/>
            </a:pPr>
            <a:r>
              <a:t>204 No Content — successful response without a response body</a:t>
            </a:r>
          </a:p>
          <a:p>
            <a:pPr>
              <a:defRPr sz="2000"/>
            </a:pPr>
            <a:r>
              <a:t>400 Bad Request — invalid request</a:t>
            </a:r>
          </a:p>
          <a:p>
            <a:pPr>
              <a:defRPr sz="2000"/>
            </a:pPr>
            <a:r>
              <a:t>401 Unauthorized — authentication is required or invalid</a:t>
            </a:r>
          </a:p>
          <a:p>
            <a:pPr>
              <a:defRPr sz="2000"/>
            </a:pPr>
            <a:r>
              <a:t>403 Forbidden — access is not allowed</a:t>
            </a:r>
          </a:p>
          <a:p>
            <a:pPr>
              <a:defRPr sz="2000"/>
            </a:pPr>
            <a:r>
              <a:t>404 Not Found — requested resource does not exist</a:t>
            </a:r>
          </a:p>
          <a:p>
            <a:pPr>
              <a:defRPr sz="2000"/>
            </a:pPr>
            <a:r>
              <a:t>422 Validation Error — request data failed validation</a:t>
            </a:r>
          </a:p>
          <a:p>
            <a:pPr>
              <a:defRPr sz="2000"/>
            </a:pPr>
            <a:r>
              <a:t>500 Internal Server Error — server-side failure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HTTP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FastAPI provides HTTPException for signaling HTTP errors.</a:t>
            </a:r>
          </a:p>
          <a:p>
            <a:pPr>
              <a:defRPr sz="2000"/>
            </a:pPr>
            <a:r>
              <a:t>An exception can specify the status code and detail message.</a:t>
            </a:r>
          </a:p>
          <a:p>
            <a:pPr>
              <a:defRPr sz="2000"/>
            </a:pPr>
            <a:r>
              <a:t>Raising the exception stops normal execution of the route.</a:t>
            </a:r>
          </a:p>
          <a:p>
            <a:pPr>
              <a:defRPr sz="2000"/>
            </a:pPr>
            <a:r>
              <a:t>FastAPI converts it into a structured JSON error response.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Part 8 — Organizing Routes with </a:t>
            </a:r>
            <a:r>
              <a:rPr sz="3600" dirty="0" err="1"/>
              <a:t>APIRouter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Large applications should not keep every route in a single file.</a:t>
            </a:r>
          </a:p>
          <a:p>
            <a:pPr>
              <a:defRPr sz="2000"/>
            </a:pPr>
            <a:r>
              <a:t>APIRouter groups related endpoints into separate modules.</a:t>
            </a:r>
          </a:p>
          <a:p>
            <a:pPr>
              <a:defRPr sz="2000"/>
            </a:pPr>
            <a:r>
              <a:t>A router behaves like a smaller routing unit that can be attached to the main application.</a:t>
            </a:r>
          </a:p>
          <a:p>
            <a:pPr>
              <a:defRPr sz="2000"/>
            </a:pPr>
            <a:r>
              <a:t>This improves organization and maintainability.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 Prefixes and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router can be included in the main application with a URL prefix.</a:t>
            </a:r>
          </a:p>
          <a:p>
            <a:pPr>
              <a:defRPr sz="2000"/>
            </a:pPr>
            <a:r>
              <a:t>The prefix is automatically applied to all routes in that router.</a:t>
            </a:r>
          </a:p>
          <a:p>
            <a:pPr>
              <a:defRPr sz="2000"/>
            </a:pPr>
            <a:r>
              <a:t>Tags group related routes in the generated documentation.</a:t>
            </a:r>
          </a:p>
          <a:p>
            <a:pPr>
              <a:defRPr sz="2000"/>
            </a:pPr>
            <a:r>
              <a:t>This creates a clean API structure as the application grows.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 —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Dependency Injection allows reusable logic to be executed before a route.</a:t>
            </a:r>
          </a:p>
          <a:p>
            <a:pPr>
              <a:defRPr sz="2000"/>
            </a:pPr>
            <a:r>
              <a:t>A dependency can calculate or provide a value needed by the endpoint.</a:t>
            </a:r>
          </a:p>
          <a:p>
            <a:pPr>
              <a:defRPr sz="2000"/>
            </a:pPr>
            <a:r>
              <a:t>This avoids duplicating common logic across routes.</a:t>
            </a:r>
          </a:p>
          <a:p>
            <a:pPr>
              <a:defRPr sz="2000"/>
            </a:pPr>
            <a:r>
              <a:t>Dependencies are especially useful for shared request processing and authentication.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dependency can handle common query parameters or other shared requirements.</a:t>
            </a:r>
          </a:p>
          <a:p>
            <a:pPr>
              <a:defRPr sz="2000"/>
            </a:pPr>
            <a:r>
              <a:t>Multiple routes can reuse the same dependency.</a:t>
            </a:r>
          </a:p>
          <a:p>
            <a:pPr>
              <a:defRPr sz="2000"/>
            </a:pPr>
            <a:r>
              <a:t>FastAPI resolves the dependency before calling the route handler.</a:t>
            </a:r>
          </a:p>
          <a:p>
            <a:pPr>
              <a:defRPr sz="2000"/>
            </a:pPr>
            <a:r>
              <a:t>The dependency result is supplied to the route function.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 for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Dependencies can inspect request headers and validate credentials.</a:t>
            </a:r>
          </a:p>
          <a:p>
            <a:pPr>
              <a:defRPr sz="2000"/>
            </a:pPr>
            <a:r>
              <a:t>A dependency can reject a request before the protected route executes.</a:t>
            </a:r>
          </a:p>
          <a:p>
            <a:pPr>
              <a:defRPr sz="2000"/>
            </a:pPr>
            <a:r>
              <a:t>This pattern forms a foundation for authentication and authorization.</a:t>
            </a:r>
          </a:p>
          <a:p>
            <a:pPr>
              <a:defRPr sz="2000"/>
            </a:pPr>
            <a:r>
              <a:t>The same authentication logic can be reused across many protected endpoints.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10 —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FastAPI supports both regular def functions and async def functions.</a:t>
            </a:r>
          </a:p>
          <a:p>
            <a:pPr>
              <a:defRPr sz="2000"/>
            </a:pPr>
            <a:r>
              <a:t>Asynchronous functions can pause while waiting for I/O operations.</a:t>
            </a:r>
          </a:p>
          <a:p>
            <a:pPr>
              <a:defRPr sz="2000"/>
            </a:pPr>
            <a:r>
              <a:t>During those waits, other work can be handled.</a:t>
            </a:r>
          </a:p>
          <a:p>
            <a:pPr>
              <a:defRPr sz="2000"/>
            </a:pPr>
            <a:r>
              <a:t>Async programming is especially relevant for databases, network calls, and external services.</a:t>
            </a:r>
          </a:p>
          <a:p>
            <a:pPr>
              <a:defRPr sz="2000"/>
            </a:pPr>
            <a:r>
              <a:t>For simple in-memory routes, regular def functions are sufficient.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t>Client sends an HTTP request.</a:t>
            </a:r>
          </a:p>
          <a:p>
            <a:pPr>
              <a:defRPr sz="2000"/>
            </a:pPr>
            <a:r>
              <a:t>FastAPI matches the method and path to a route.</a:t>
            </a:r>
          </a:p>
          <a:p>
            <a:pPr>
              <a:defRPr sz="2000"/>
            </a:pPr>
            <a:r>
              <a:t>Parameters and request data are extracted.</a:t>
            </a:r>
          </a:p>
          <a:p>
            <a:pPr>
              <a:defRPr sz="2000"/>
            </a:pPr>
            <a:r>
              <a:t>Types and validation rules are applied.</a:t>
            </a:r>
          </a:p>
          <a:p>
            <a:pPr>
              <a:defRPr sz="2000"/>
            </a:pPr>
            <a:r>
              <a:t>Dependencies are resolved when required.</a:t>
            </a:r>
          </a:p>
          <a:p>
            <a:pPr>
              <a:defRPr sz="2000"/>
            </a:pPr>
            <a:r>
              <a:t>The route handler executes.</a:t>
            </a:r>
          </a:p>
          <a:p>
            <a:pPr>
              <a:defRPr sz="2000"/>
            </a:pPr>
            <a:r>
              <a:t>The result is converted into the response.</a:t>
            </a:r>
          </a:p>
          <a:p>
            <a:pPr>
              <a:defRPr sz="2000"/>
            </a:pPr>
            <a:r>
              <a:t>The client receives the HTTP response.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FastAPI Concepts —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t>Routes connect HTTP requests to Python functions.</a:t>
            </a:r>
          </a:p>
          <a:p>
            <a:pPr>
              <a:defRPr sz="2000"/>
            </a:pPr>
            <a:r>
              <a:t>Type hints drive conversion and validation.</a:t>
            </a:r>
          </a:p>
          <a:p>
            <a:pPr>
              <a:defRPr sz="2000"/>
            </a:pPr>
            <a:r>
              <a:t>Pydantic models define structured request data.</a:t>
            </a:r>
          </a:p>
          <a:p>
            <a:pPr>
              <a:defRPr sz="2000"/>
            </a:pPr>
            <a:r>
              <a:t>Response models control outgoing data.</a:t>
            </a:r>
          </a:p>
          <a:p>
            <a:pPr>
              <a:defRPr sz="2000"/>
            </a:pPr>
            <a:r>
              <a:t>HTTP status codes communicate request outcomes.</a:t>
            </a:r>
          </a:p>
          <a:p>
            <a:pPr>
              <a:defRPr sz="2000"/>
            </a:pPr>
            <a:r>
              <a:t>APIRouter organizes larger applications.</a:t>
            </a:r>
          </a:p>
          <a:p>
            <a:pPr>
              <a:defRPr sz="2000"/>
            </a:pPr>
            <a:r>
              <a:t>Dependencies provide reusable request logic.</a:t>
            </a:r>
          </a:p>
          <a:p>
            <a:pPr>
              <a:defRPr sz="2000"/>
            </a:pPr>
            <a:r>
              <a:t>Async/await supports efficient I/O-bound operations.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Project — To-Do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a small To-Do API using the concepts from the lesson.</a:t>
            </a:r>
          </a:p>
          <a:p>
            <a:pPr>
              <a:defRPr sz="2000"/>
            </a:pPr>
            <a:r>
              <a:t>Define a Todo data model with an identifier, title, and completion state.</a:t>
            </a:r>
          </a:p>
          <a:p>
            <a:pPr>
              <a:defRPr sz="2000"/>
            </a:pPr>
            <a:r>
              <a:t>Implement endpoints to list, retrieve, create, replace, and delete todos.</a:t>
            </a:r>
          </a:p>
          <a:p>
            <a:pPr>
              <a:defRPr sz="2000"/>
            </a:pPr>
            <a:r>
              <a:t>Return a not-found error when a requested todo does not exist.</a:t>
            </a:r>
          </a:p>
          <a:p>
            <a:pPr>
              <a:defRPr sz="2000"/>
            </a:pPr>
            <a:r>
              <a:t>Store the initial data in memory.</a:t>
            </a:r>
          </a:p>
          <a:p>
            <a:pPr>
              <a:defRPr sz="2000"/>
            </a:pPr>
            <a:r>
              <a:t>Use the interactive documentation to exercise the API.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Practice Project Reinforces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t>Path parameters</a:t>
            </a:r>
          </a:p>
          <a:p>
            <a:pPr>
              <a:defRPr sz="2000"/>
            </a:pPr>
            <a:r>
              <a:t>Query parameters</a:t>
            </a:r>
          </a:p>
          <a:p>
            <a:pPr>
              <a:defRPr sz="2000"/>
            </a:pPr>
            <a:r>
              <a:t>Request bodies</a:t>
            </a:r>
          </a:p>
          <a:p>
            <a:pPr>
              <a:defRPr sz="2000"/>
            </a:pPr>
            <a:r>
              <a:t>Pydantic validation</a:t>
            </a:r>
          </a:p>
          <a:p>
            <a:pPr>
              <a:defRPr sz="2000"/>
            </a:pPr>
            <a:r>
              <a:t>HTTP status codes</a:t>
            </a:r>
          </a:p>
          <a:p>
            <a:pPr>
              <a:defRPr sz="2000"/>
            </a:pPr>
            <a:r>
              <a:t>Error handling</a:t>
            </a:r>
          </a:p>
          <a:p>
            <a:pPr>
              <a:defRPr sz="2000"/>
            </a:pPr>
            <a:r>
              <a:t>Route organization</a:t>
            </a:r>
          </a:p>
          <a:p>
            <a:pPr>
              <a:defRPr sz="2000"/>
            </a:pPr>
            <a:r>
              <a:t>Interactive API documentation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Go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000"/>
            </a:pPr>
            <a:r>
              <a:t>Response model features</a:t>
            </a:r>
          </a:p>
          <a:p>
            <a:pPr>
              <a:defRPr sz="2000"/>
            </a:pPr>
            <a:r>
              <a:t>Advanced Pydantic capabilities</a:t>
            </a:r>
          </a:p>
          <a:p>
            <a:pPr>
              <a:defRPr sz="2000"/>
            </a:pPr>
            <a:r>
              <a:t>Advanced dependencies</a:t>
            </a:r>
          </a:p>
          <a:p>
            <a:pPr>
              <a:defRPr sz="2000"/>
            </a:pPr>
            <a:r>
              <a:t>Middleware and CORS</a:t>
            </a:r>
          </a:p>
          <a:p>
            <a:pPr>
              <a:defRPr sz="2000"/>
            </a:pPr>
            <a:r>
              <a:t>Databases</a:t>
            </a:r>
          </a:p>
          <a:p>
            <a:pPr>
              <a:defRPr sz="2000"/>
            </a:pPr>
            <a:r>
              <a:t>Authentication</a:t>
            </a:r>
          </a:p>
          <a:p>
            <a:pPr>
              <a:defRPr sz="2000"/>
            </a:pPr>
            <a:r>
              <a:t>Testing</a:t>
            </a:r>
          </a:p>
          <a:p>
            <a:pPr>
              <a:defRPr sz="2000"/>
            </a:pPr>
            <a:r>
              <a:t>Project structure</a:t>
            </a:r>
          </a:p>
          <a:p>
            <a:pPr>
              <a:defRPr sz="2000"/>
            </a:pPr>
            <a:r>
              <a:t>Async/await in depth</a:t>
            </a:r>
          </a:p>
          <a:p>
            <a:pPr>
              <a:defRPr sz="2000"/>
            </a:pPr>
            <a:r>
              <a:t>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Theme</Template>
  <TotalTime>2</TotalTime>
  <Words>2102</Words>
  <Application>Microsoft Office PowerPoint</Application>
  <PresentationFormat>Widescreen</PresentationFormat>
  <Paragraphs>267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IBM Plex Sans</vt:lpstr>
      <vt:lpstr>Quicksand</vt:lpstr>
      <vt:lpstr>ABC Final Theme</vt:lpstr>
      <vt:lpstr>FastAPI — Beginner-Friendly Deep Dive</vt:lpstr>
      <vt:lpstr>Learning Roadmap</vt:lpstr>
      <vt:lpstr>Part 0 — Python Prerequisites</vt:lpstr>
      <vt:lpstr>Modules and Imports</vt:lpstr>
      <vt:lpstr>Classes and Instances</vt:lpstr>
      <vt:lpstr>Decorators</vt:lpstr>
      <vt:lpstr>Dictionaries and JSON</vt:lpstr>
      <vt:lpstr>Type Hints — FastAPI's Superpower</vt:lpstr>
      <vt:lpstr>Part 1 — Your First FastAPI App</vt:lpstr>
      <vt:lpstr>Understanding the Development Server</vt:lpstr>
      <vt:lpstr>Routes and Endpoints</vt:lpstr>
      <vt:lpstr>FastAPI Response Conversion</vt:lpstr>
      <vt:lpstr>Part 2 — HTTP Methods</vt:lpstr>
      <vt:lpstr>HTTP Methods — Mental Model</vt:lpstr>
      <vt:lpstr>Interactive API Documentation</vt:lpstr>
      <vt:lpstr>Part 3 — Path Parameters</vt:lpstr>
      <vt:lpstr>Path Parameters and Type Conversion</vt:lpstr>
      <vt:lpstr>Multiple Path Parameters</vt:lpstr>
      <vt:lpstr>Path Parameter Constraints</vt:lpstr>
      <vt:lpstr>Part 4 — Query Parameters</vt:lpstr>
      <vt:lpstr>Required vs Optional Query Parameters</vt:lpstr>
      <vt:lpstr>Query Parameter Type Conversion</vt:lpstr>
      <vt:lpstr>Combining Path and Query Parameters</vt:lpstr>
      <vt:lpstr>Part 5 — Request Bodies</vt:lpstr>
      <vt:lpstr>Pydantic — FastAPI's Validation Engine</vt:lpstr>
      <vt:lpstr>Request Body Processing</vt:lpstr>
      <vt:lpstr>Nested Models</vt:lpstr>
      <vt:lpstr>Lists of Models</vt:lpstr>
      <vt:lpstr>Field Validation Rules</vt:lpstr>
      <vt:lpstr>Part 6 — Response Models</vt:lpstr>
      <vt:lpstr>Why Response Models Matter</vt:lpstr>
      <vt:lpstr>Part 7 — HTTP Status Codes</vt:lpstr>
      <vt:lpstr>Common Status Codes</vt:lpstr>
      <vt:lpstr>Handling HTTP Errors</vt:lpstr>
      <vt:lpstr>Part 8 — Organizing Routes with APIRouter</vt:lpstr>
      <vt:lpstr>Router Prefixes and Tags</vt:lpstr>
      <vt:lpstr>Part 9 — Dependency Injection</vt:lpstr>
      <vt:lpstr>Reusable Dependencies</vt:lpstr>
      <vt:lpstr>Dependencies for Authentication</vt:lpstr>
      <vt:lpstr>Part 10 — Async and Await</vt:lpstr>
      <vt:lpstr>FastAPI Request Flow</vt:lpstr>
      <vt:lpstr>Key FastAPI Concepts — Summary</vt:lpstr>
      <vt:lpstr>Practice Project — To-Do API</vt:lpstr>
      <vt:lpstr>What the Practice Project Reinforces</vt:lpstr>
      <vt:lpstr>Where to Go Next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Rakesh Kr</cp:lastModifiedBy>
  <cp:revision>3</cp:revision>
  <dcterms:created xsi:type="dcterms:W3CDTF">2013-01-27T09:14:16Z</dcterms:created>
  <dcterms:modified xsi:type="dcterms:W3CDTF">2026-09-21T02:28:27Z</dcterms:modified>
  <cp:category/>
</cp:coreProperties>
</file>