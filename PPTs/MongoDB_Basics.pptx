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360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64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8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980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47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7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9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145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75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23052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="" xmlns:a16="http://schemas.microsoft.com/office/drawing/2014/main" xmlns:asvg="http://schemas.microsoft.com/office/drawing/2016/SVG/main" xmlns:p14="http://schemas.microsoft.com/office/powerpoint/2010/main" xmlns:a14="http://schemas.microsoft.com/office/drawing/2010/main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726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800" dirty="0">
                <a:solidFill>
                  <a:schemeClr val="tx1"/>
                </a:solidFill>
              </a:rPr>
              <a:t>MongoDB — Basic to Intermediate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MongoDB fundamentals to intermediate querying and aggregation.</a:t>
            </a:r>
          </a:p>
          <a:p>
            <a:r>
              <a:rPr dirty="0"/>
              <a:t>Focus: databases, documents, querying, updates, arrays, nested data, aggregation, pagination, indexes, and query performance.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 sz="2000"/>
            </a:pPr>
            <a:r>
              <a:t>Database and collection fundamentals</a:t>
            </a:r>
          </a:p>
          <a:p>
            <a:pPr>
              <a:defRPr sz="2000"/>
            </a:pPr>
            <a:r>
              <a:t>Creating and reading documents</a:t>
            </a:r>
          </a:p>
          <a:p>
            <a:pPr>
              <a:defRPr sz="2000"/>
            </a:pPr>
            <a:r>
              <a:t>Comparison and logical operators</a:t>
            </a:r>
          </a:p>
          <a:p>
            <a:pPr>
              <a:defRPr sz="2000"/>
            </a:pPr>
            <a:r>
              <a:t>Projection, sorting, limiting, skipping, and counting</a:t>
            </a:r>
          </a:p>
          <a:p>
            <a:pPr>
              <a:defRPr sz="2000"/>
            </a:pPr>
            <a:r>
              <a:t>Updating and deleting documents</a:t>
            </a:r>
          </a:p>
          <a:p>
            <a:pPr>
              <a:defRPr sz="2000"/>
            </a:pPr>
            <a:r>
              <a:t>Arrays and embedded documents</a:t>
            </a:r>
          </a:p>
          <a:p>
            <a:pPr>
              <a:defRPr sz="2000"/>
            </a:pPr>
            <a:r>
              <a:t>Regular expressions and field inspection</a:t>
            </a:r>
          </a:p>
          <a:p>
            <a:pPr>
              <a:defRPr sz="2000"/>
            </a:pPr>
            <a:r>
              <a:t>Aggregation fundamentals and pipeline stages</a:t>
            </a:r>
          </a:p>
          <a:p>
            <a:pPr>
              <a:defRPr sz="2000"/>
            </a:pPr>
            <a:r>
              <a:t>Pagination, indexes, and query analysis</a:t>
            </a:r>
          </a:p>
          <a:p>
            <a:pPr>
              <a:defRPr sz="2000"/>
            </a:pPr>
            <a:r>
              <a:t>Combining multiple techniques in practical 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source uses a students collection for the examples.</a:t>
            </a:r>
          </a:p>
          <a:p>
            <a:pPr>
              <a:defRPr sz="2000"/>
            </a:pPr>
            <a:r>
              <a:t>The student document contains fields such as name, age, course, marks, city, skills, and active status.</a:t>
            </a:r>
          </a:p>
          <a:p>
            <a:pPr>
              <a:defRPr sz="2000"/>
            </a:pPr>
            <a:r>
              <a:t>The examples intentionally include scalar values, arrays, and boolean fields.</a:t>
            </a:r>
          </a:p>
          <a:p>
            <a:pPr>
              <a:defRPr sz="2000"/>
            </a:pPr>
            <a:r>
              <a:t>This single dataset is used to progressively introduce MongoDB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MongoDB Database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organizes data into databases and collections.</a:t>
            </a:r>
          </a:p>
          <a:p>
            <a:pPr>
              <a:defRPr sz="2000"/>
            </a:pPr>
            <a:r>
              <a:t>A database is a logical container for related collections.</a:t>
            </a:r>
          </a:p>
          <a:p>
            <a:pPr>
              <a:defRPr sz="2000"/>
            </a:pPr>
            <a:r>
              <a:t>A collection is a group of MongoDB documents.</a:t>
            </a:r>
          </a:p>
          <a:p>
            <a:pPr>
              <a:defRPr sz="2000"/>
            </a:pPr>
            <a:r>
              <a:t>MongoDB can create a collection automatically when data is first inserted.</a:t>
            </a:r>
          </a:p>
          <a:p>
            <a:pPr>
              <a:defRPr sz="2000"/>
            </a:pPr>
            <a:r>
              <a:t>The current database and available collections can be inspected from the MongoDB shell.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Collections and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collection stores related documents.</a:t>
            </a:r>
          </a:p>
          <a:p>
            <a:pPr>
              <a:defRPr sz="2000"/>
            </a:pPr>
            <a:r>
              <a:t>A document is the primary unit of data in MongoDB.</a:t>
            </a:r>
          </a:p>
          <a:p>
            <a:pPr>
              <a:defRPr sz="2000"/>
            </a:pPr>
            <a:r>
              <a:t>Documents are flexible and can contain different fields.</a:t>
            </a:r>
          </a:p>
          <a:p>
            <a:pPr>
              <a:defRPr sz="2000"/>
            </a:pPr>
            <a:r>
              <a:t>A collection can be explicitly created or created implicitly during insertion.</a:t>
            </a:r>
          </a:p>
          <a:p>
            <a:pPr>
              <a:defRPr sz="2000"/>
            </a:pPr>
            <a:r>
              <a:t>This document-oriented model is central to MongoDB.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Inserting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supports inserting a single document or multiple documents.</a:t>
            </a:r>
          </a:p>
          <a:p>
            <a:pPr>
              <a:defRPr sz="2000"/>
            </a:pPr>
            <a:r>
              <a:t>A document can contain scalar fields, arrays, and nested objects.</a:t>
            </a:r>
          </a:p>
          <a:p>
            <a:pPr>
              <a:defRPr sz="2000"/>
            </a:pPr>
            <a:r>
              <a:t>Multiple-document insertion is useful for loading batches of data.</a:t>
            </a:r>
          </a:p>
          <a:p>
            <a:pPr>
              <a:defRPr sz="2000"/>
            </a:pPr>
            <a:r>
              <a:t>The source introduces insertion before moving to query operations.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Reading documents is the foundation of MongoDB querying.</a:t>
            </a:r>
          </a:p>
          <a:p>
            <a:pPr>
              <a:defRPr sz="2000"/>
            </a:pPr>
            <a:r>
              <a:t>A query can retrieve all documents, one document, or documents matching conditions.</a:t>
            </a:r>
          </a:p>
          <a:p>
            <a:pPr>
              <a:defRPr sz="2000"/>
            </a:pPr>
            <a:r>
              <a:t>Field equality is one of the simplest ways to filter documents.</a:t>
            </a:r>
          </a:p>
          <a:p>
            <a:pPr>
              <a:defRPr sz="2000"/>
            </a:pPr>
            <a:r>
              <a:t>Querying is based on document fields rather than relational rows and columns.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 sz="2000"/>
            </a:pPr>
            <a:r>
              <a:t>Comparison operators allow queries to express value relationships.</a:t>
            </a:r>
          </a:p>
          <a:p>
            <a:pPr>
              <a:defRPr sz="2000"/>
            </a:pPr>
            <a:r>
              <a:t>$eq — equal</a:t>
            </a:r>
          </a:p>
          <a:p>
            <a:pPr>
              <a:defRPr sz="2000"/>
            </a:pPr>
            <a:r>
              <a:t>$ne — not equal</a:t>
            </a:r>
          </a:p>
          <a:p>
            <a:pPr>
              <a:defRPr sz="2000"/>
            </a:pPr>
            <a:r>
              <a:t>$gt — greater than</a:t>
            </a:r>
          </a:p>
          <a:p>
            <a:pPr>
              <a:defRPr sz="2000"/>
            </a:pPr>
            <a:r>
              <a:t>$gte — greater than or equal</a:t>
            </a:r>
          </a:p>
          <a:p>
            <a:pPr>
              <a:defRPr sz="2000"/>
            </a:pPr>
            <a:r>
              <a:t>$lt — less than</a:t>
            </a:r>
          </a:p>
          <a:p>
            <a:pPr>
              <a:defRPr sz="2000"/>
            </a:pPr>
            <a:r>
              <a:t>$lte — less than or equal</a:t>
            </a:r>
          </a:p>
          <a:p>
            <a:pPr>
              <a:defRPr sz="2000"/>
            </a:pPr>
            <a:r>
              <a:t>$in — matches any value from a supplied set</a:t>
            </a:r>
          </a:p>
          <a:p>
            <a:pPr>
              <a:defRPr sz="2000"/>
            </a:pPr>
            <a:r>
              <a:t>$nin — excludes values from a supplied 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Comparison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Comparison operators are commonly applied to numeric fields such as age and marks.</a:t>
            </a:r>
          </a:p>
          <a:p>
            <a:pPr>
              <a:defRPr sz="2000"/>
            </a:pPr>
            <a:r>
              <a:t>They allow ranges and thresholds to be expressed directly in a query.</a:t>
            </a:r>
          </a:p>
          <a:p>
            <a:pPr>
              <a:defRPr sz="2000"/>
            </a:pPr>
            <a:r>
              <a:t>$in is useful when several acceptable values should match.</a:t>
            </a:r>
          </a:p>
          <a:p>
            <a:pPr>
              <a:defRPr sz="2000"/>
            </a:pPr>
            <a:r>
              <a:t>$nin is useful when a set of values should be excluded.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Logical operators combine or negate query conditions.</a:t>
            </a:r>
          </a:p>
          <a:p>
            <a:pPr>
              <a:defRPr sz="2000"/>
            </a:pPr>
            <a:r>
              <a:t>$and requires all specified conditions to be satisfied.</a:t>
            </a:r>
          </a:p>
          <a:p>
            <a:pPr>
              <a:defRPr sz="2000"/>
            </a:pPr>
            <a:r>
              <a:t>$or matches when at least one condition is satisfied.</a:t>
            </a:r>
          </a:p>
          <a:p>
            <a:pPr>
              <a:defRPr sz="2000"/>
            </a:pPr>
            <a:r>
              <a:t>$not negates a condition.</a:t>
            </a:r>
          </a:p>
          <a:p>
            <a:pPr>
              <a:defRPr sz="2000"/>
            </a:pPr>
            <a:r>
              <a:t>$nor matches when none of the supplied conditions are satisfied.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Implicit AND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can express multiple field conditions directly in a query document.</a:t>
            </a:r>
          </a:p>
          <a:p>
            <a:pPr>
              <a:defRPr sz="2000"/>
            </a:pPr>
            <a:r>
              <a:t>Multiple conditions on different fields are treated as an AND relationship.</a:t>
            </a:r>
          </a:p>
          <a:p>
            <a:pPr>
              <a:defRPr sz="2000"/>
            </a:pPr>
            <a:r>
              <a:t>This often provides a simpler representation than explicitly using $and.</a:t>
            </a:r>
          </a:p>
          <a:p>
            <a:pPr>
              <a:defRPr sz="2000"/>
            </a:pPr>
            <a:r>
              <a:t>Understanding this makes compound filtering easier to read.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Projection controls which fields are returned from a query.</a:t>
            </a:r>
          </a:p>
          <a:p>
            <a:pPr>
              <a:defRPr sz="2000"/>
            </a:pPr>
            <a:r>
              <a:t>Inclusion projection specifies the fields to include.</a:t>
            </a:r>
          </a:p>
          <a:p>
            <a:pPr>
              <a:defRPr sz="2000"/>
            </a:pPr>
            <a:r>
              <a:t>Exclusion projection specifies the fields to leave out.</a:t>
            </a:r>
          </a:p>
          <a:p>
            <a:pPr>
              <a:defRPr sz="2000"/>
            </a:pPr>
            <a:r>
              <a:t>Projection can reduce unnecessary data returned to the application.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 general, inclusion and exclusion should not be mixed in the same projection.</a:t>
            </a:r>
          </a:p>
          <a:p>
            <a:pPr>
              <a:defRPr sz="2000"/>
            </a:pPr>
            <a:r>
              <a:t>The _id field is a special exception and can be excluded while other fields are included.</a:t>
            </a:r>
          </a:p>
          <a:p>
            <a:pPr>
              <a:defRPr sz="2000"/>
            </a:pPr>
            <a:r>
              <a:t>Clear projection choices help keep query results focused.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Sorting controls the order in which query results are returned.</a:t>
            </a:r>
          </a:p>
          <a:p>
            <a:pPr>
              <a:defRPr sz="2000"/>
            </a:pPr>
            <a:r>
              <a:t>Ascending order uses the value 1.</a:t>
            </a:r>
          </a:p>
          <a:p>
            <a:pPr>
              <a:defRPr sz="2000"/>
            </a:pPr>
            <a:r>
              <a:t>Descending order uses the value -1.</a:t>
            </a:r>
          </a:p>
          <a:p>
            <a:pPr>
              <a:defRPr sz="2000"/>
            </a:pPr>
            <a:r>
              <a:t>Multiple sort fields can be specified.</a:t>
            </a:r>
          </a:p>
          <a:p>
            <a:pPr>
              <a:defRPr sz="2000"/>
            </a:pPr>
            <a:r>
              <a:t>When multiple fields are used, MongoDB applies the sort criteria in the specified order.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 and Skip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Limit restricts how many documents are returned.</a:t>
            </a:r>
          </a:p>
          <a:p>
            <a:pPr>
              <a:defRPr sz="2000"/>
            </a:pPr>
            <a:r>
              <a:t>Skip ignores a specified number of documents before returning results.</a:t>
            </a:r>
          </a:p>
          <a:p>
            <a:pPr>
              <a:defRPr sz="2000"/>
            </a:pPr>
            <a:r>
              <a:t>The combination is commonly used for pagination.</a:t>
            </a:r>
          </a:p>
          <a:p>
            <a:pPr>
              <a:defRPr sz="2000"/>
            </a:pPr>
            <a:r>
              <a:t>Sorting before limiting is useful when selecting top or bottom results.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can count documents in a collection.</a:t>
            </a:r>
          </a:p>
          <a:p>
            <a:pPr>
              <a:defRPr sz="2000"/>
            </a:pPr>
            <a:r>
              <a:t>A count can be performed for the entire collection.</a:t>
            </a:r>
          </a:p>
          <a:p>
            <a:pPr>
              <a:defRPr sz="2000"/>
            </a:pPr>
            <a:r>
              <a:t>A filter can restrict the count to documents matching specific criteria.</a:t>
            </a:r>
          </a:p>
          <a:p>
            <a:pPr>
              <a:defRPr sz="2000"/>
            </a:pPr>
            <a:r>
              <a:t>Counting is useful for summaries, dashboards, and pagination metadata.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provides update operations for modifying stored documents.</a:t>
            </a:r>
          </a:p>
          <a:p>
            <a:pPr>
              <a:defRPr sz="2000"/>
            </a:pPr>
            <a:r>
              <a:t>updateOne changes the first matching document.</a:t>
            </a:r>
          </a:p>
          <a:p>
            <a:pPr>
              <a:defRPr sz="2000"/>
            </a:pPr>
            <a:r>
              <a:t>updateMany applies changes to all matching documents.</a:t>
            </a:r>
          </a:p>
          <a:p>
            <a:pPr>
              <a:defRPr sz="2000"/>
            </a:pPr>
            <a:r>
              <a:t>Updates generally use update operators to describe the intended change.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$set — Updating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$set changes the value of specified fields.</a:t>
            </a:r>
          </a:p>
          <a:p>
            <a:pPr>
              <a:defRPr sz="2000"/>
            </a:pPr>
            <a:r>
              <a:t>Multiple fields can be updated in the same operation.</a:t>
            </a:r>
          </a:p>
          <a:p>
            <a:pPr>
              <a:defRPr sz="2000"/>
            </a:pPr>
            <a:r>
              <a:t>Fields can be modified without replacing the rest of the document.</a:t>
            </a:r>
          </a:p>
          <a:p>
            <a:pPr>
              <a:defRPr sz="2000"/>
            </a:pPr>
            <a:r>
              <a:t>This is useful for targeted updates.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$unset — Removing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$unset removes specified fields from a document.</a:t>
            </a:r>
          </a:p>
          <a:p>
            <a:pPr>
              <a:defRPr sz="2000"/>
            </a:pPr>
            <a:r>
              <a:t>It changes the document structure by deleting the selected field.</a:t>
            </a:r>
          </a:p>
          <a:p>
            <a:pPr>
              <a:defRPr sz="2000"/>
            </a:pPr>
            <a:r>
              <a:t>It is useful when information is no longer needed.</a:t>
            </a:r>
          </a:p>
          <a:p>
            <a:pPr>
              <a:defRPr sz="2000"/>
            </a:pPr>
            <a:r>
              <a:t>Unlike assigning a new value, the field itself is removed.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$inc — Incrementing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$inc changes a numeric field by a specified amount.</a:t>
            </a:r>
          </a:p>
          <a:p>
            <a:pPr>
              <a:defRPr sz="2000"/>
            </a:pPr>
            <a:r>
              <a:t>A positive increment increases a value.</a:t>
            </a:r>
          </a:p>
          <a:p>
            <a:pPr>
              <a:defRPr sz="2000"/>
            </a:pPr>
            <a:r>
              <a:t>A negative increment decreases a value.</a:t>
            </a:r>
          </a:p>
          <a:p>
            <a:pPr>
              <a:defRPr sz="2000"/>
            </a:pPr>
            <a:r>
              <a:t>It is useful for counters, scores, quantities, and similar numeric data.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updateMany and Bulk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updateMany applies an update to every document matching the filter.</a:t>
            </a:r>
          </a:p>
          <a:p>
            <a:pPr>
              <a:defRPr sz="2000"/>
            </a:pPr>
            <a:r>
              <a:t>It is useful when a business rule affects a group of documents.</a:t>
            </a:r>
          </a:p>
          <a:p>
            <a:pPr>
              <a:defRPr sz="2000"/>
            </a:pPr>
            <a:r>
              <a:t>The filter determines the target population.</a:t>
            </a:r>
          </a:p>
          <a:p>
            <a:pPr>
              <a:defRPr sz="2000"/>
            </a:pPr>
            <a:r>
              <a:t>The update definition determines the change applied to that population.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$mul — Multiplying Numeric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$mul multiplies a numeric field by a specified factor.</a:t>
            </a:r>
          </a:p>
          <a:p>
            <a:pPr>
              <a:defRPr sz="2000"/>
            </a:pPr>
            <a:r>
              <a:t>It can be used to apply proportional changes.</a:t>
            </a:r>
          </a:p>
          <a:p>
            <a:pPr>
              <a:defRPr sz="2000"/>
            </a:pPr>
            <a:r>
              <a:t>It is demonstrated in the source using marks as the numeric field.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Upsert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Upsert combines update and insert behavior.</a:t>
            </a:r>
          </a:p>
          <a:p>
            <a:pPr>
              <a:defRPr sz="2000"/>
            </a:pPr>
            <a:r>
              <a:t>If a matching document exists, it is updated.</a:t>
            </a:r>
          </a:p>
          <a:p>
            <a:pPr>
              <a:defRPr sz="2000"/>
            </a:pPr>
            <a:r>
              <a:t>If no matching document exists, MongoDB creates a new document.</a:t>
            </a:r>
          </a:p>
          <a:p>
            <a:pPr>
              <a:defRPr sz="2000"/>
            </a:pPr>
            <a:r>
              <a:t>The source highlights upsert as an important real-application capability.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Replace vs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replaceOne replaces the entire matching document.</a:t>
            </a:r>
          </a:p>
          <a:p>
            <a:pPr>
              <a:defRPr sz="2000"/>
            </a:pPr>
            <a:r>
              <a:t>updateOne changes selected fields while preserving other fields.</a:t>
            </a:r>
          </a:p>
          <a:p>
            <a:pPr>
              <a:defRPr sz="2000"/>
            </a:pPr>
            <a:r>
              <a:t>Replacement therefore requires the complete desired document representation.</a:t>
            </a:r>
          </a:p>
          <a:p>
            <a:pPr>
              <a:defRPr sz="2000"/>
            </a:pPr>
            <a:r>
              <a:t>The distinction is important when choosing how much of a document should change.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Deleting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deleteOne removes a single matching document.</a:t>
            </a:r>
          </a:p>
          <a:p>
            <a:pPr>
              <a:defRPr sz="2000"/>
            </a:pPr>
            <a:r>
              <a:t>deleteMany removes all documents matching a filter.</a:t>
            </a:r>
          </a:p>
          <a:p>
            <a:pPr>
              <a:defRPr sz="2000"/>
            </a:pPr>
            <a:r>
              <a:t>A deleteMany operation with an empty filter removes all documents.</a:t>
            </a:r>
          </a:p>
          <a:p>
            <a:pPr>
              <a:defRPr sz="2000"/>
            </a:pPr>
            <a:r>
              <a:t>Broad deletion operations require particular care.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with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documents can contain arrays such as a list of skills.</a:t>
            </a:r>
          </a:p>
          <a:p>
            <a:pPr>
              <a:defRPr sz="2000"/>
            </a:pPr>
            <a:r>
              <a:t>A query can match an array when one of its elements satisfies the condition.</a:t>
            </a:r>
          </a:p>
          <a:p>
            <a:pPr>
              <a:defRPr sz="2000"/>
            </a:pPr>
            <a:r>
              <a:t>Array querying avoids the need to normalize every collection of values into separate documents.</a:t>
            </a:r>
          </a:p>
          <a:p>
            <a:pPr>
              <a:defRPr sz="2000"/>
            </a:pPr>
            <a:r>
              <a:t>Arrays are a key part of MongoDB's document model.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$in with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$in can match array fields against any value in a supplied set.</a:t>
            </a:r>
          </a:p>
          <a:p>
            <a:pPr>
              <a:defRPr sz="2000"/>
            </a:pPr>
            <a:r>
              <a:t>It is useful when a document should match if its array contains one of several possible values.</a:t>
            </a:r>
          </a:p>
          <a:p>
            <a:pPr>
              <a:defRPr sz="2000"/>
            </a:pPr>
            <a:r>
              <a:t>This extends the use of $in beyond simple scalar fields.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$all — Require Multiple Array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$all requires an array to contain all specified values.</a:t>
            </a:r>
          </a:p>
          <a:p>
            <a:pPr>
              <a:defRPr sz="2000"/>
            </a:pPr>
            <a:r>
              <a:t>It is useful when a document must have multiple required capabilities or tags.</a:t>
            </a:r>
          </a:p>
          <a:p>
            <a:pPr>
              <a:defRPr sz="2000"/>
            </a:pPr>
            <a:r>
              <a:t>The source demonstrates this using combinations of skills.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$size — Match Array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$size matches arrays based on their exact number of elements.</a:t>
            </a:r>
          </a:p>
          <a:p>
            <a:pPr>
              <a:defRPr sz="2000"/>
            </a:pPr>
            <a:r>
              <a:t>It is useful when the number of values in an array is itself a query requirement.</a:t>
            </a:r>
          </a:p>
          <a:p>
            <a:pPr>
              <a:defRPr sz="2000"/>
            </a:pPr>
            <a:r>
              <a:t>The source demonstrates finding students with exactly two skills.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$push adds a value to an array.</a:t>
            </a:r>
          </a:p>
          <a:p>
            <a:pPr>
              <a:defRPr sz="2000"/>
            </a:pPr>
            <a:r>
              <a:t>$addToSet adds a value only when it is not already present.</a:t>
            </a:r>
          </a:p>
          <a:p>
            <a:pPr>
              <a:defRPr sz="2000"/>
            </a:pPr>
            <a:r>
              <a:t>$pull removes matching values from an array.</a:t>
            </a:r>
          </a:p>
          <a:p>
            <a:pPr>
              <a:defRPr sz="2000"/>
            </a:pPr>
            <a:r>
              <a:t>These operators allow arrays to be maintained without replacing the entire document.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$addToSet vs $push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$push permits duplicate values.</a:t>
            </a:r>
          </a:p>
          <a:p>
            <a:pPr>
              <a:defRPr sz="2000"/>
            </a:pPr>
            <a:r>
              <a:t>$addToSet is intended for unique array values.</a:t>
            </a:r>
          </a:p>
          <a:p>
            <a:pPr>
              <a:defRPr sz="2000"/>
            </a:pPr>
            <a:r>
              <a:t>When an array represents a set of unique skills or tags, $addToSet avoids duplicate entries.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Embedded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MongoDB documents can contain nested documents.</a:t>
            </a:r>
          </a:p>
          <a:p>
            <a:pPr>
              <a:defRPr sz="2000"/>
            </a:pPr>
            <a:r>
              <a:t>An embedded document groups related attributes inside its parent document.</a:t>
            </a:r>
          </a:p>
          <a:p>
            <a:pPr>
              <a:defRPr sz="2000"/>
            </a:pPr>
            <a:r>
              <a:t>The source demonstrates an address embedded inside a student document.</a:t>
            </a:r>
          </a:p>
          <a:p>
            <a:pPr>
              <a:defRPr sz="2000"/>
            </a:pPr>
            <a:r>
              <a:t>Embedded data can model closely related information together.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Dot Notation for Nested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Dot notation is used to query fields inside embedded documents.</a:t>
            </a:r>
          </a:p>
          <a:p>
            <a:pPr>
              <a:defRPr sz="2000"/>
            </a:pPr>
            <a:r>
              <a:t>A nested path identifies the field inside the embedded structure.</a:t>
            </a:r>
          </a:p>
          <a:p>
            <a:pPr>
              <a:defRPr sz="2000"/>
            </a:pPr>
            <a:r>
              <a:t>This allows MongoDB to filter documents using values deep inside a document.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Regular expressions allow pattern-based string matching.</a:t>
            </a:r>
          </a:p>
          <a:p>
            <a:pPr>
              <a:defRPr sz="2000"/>
            </a:pPr>
            <a:r>
              <a:t>They can identify values beginning with a pattern or ending with a pattern.</a:t>
            </a:r>
          </a:p>
          <a:p>
            <a:pPr>
              <a:defRPr sz="2000"/>
            </a:pPr>
            <a:r>
              <a:t>Regular-expression options can support case-insensitive matching.</a:t>
            </a:r>
          </a:p>
          <a:p>
            <a:pPr>
              <a:defRPr sz="2000"/>
            </a:pPr>
            <a:r>
              <a:t>They are useful for flexible text filtering.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$exists and $type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$exists checks whether a field is present or absent.</a:t>
            </a:r>
          </a:p>
          <a:p>
            <a:pPr>
              <a:defRPr sz="2000"/>
            </a:pPr>
            <a:r>
              <a:t>$type checks the BSON type of a field.</a:t>
            </a:r>
          </a:p>
          <a:p>
            <a:pPr>
              <a:defRPr sz="2000"/>
            </a:pPr>
            <a:r>
              <a:t>These operators are useful when documents may have different structures or data types.</a:t>
            </a:r>
          </a:p>
          <a:p>
            <a:pPr>
              <a:defRPr sz="2000"/>
            </a:pPr>
            <a:r>
              <a:t>They help inspect and filter heterogeneous document data.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$expr — Compare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$expr allows expressions to be evaluated within a query.</a:t>
            </a:r>
          </a:p>
          <a:p>
            <a:pPr>
              <a:defRPr sz="2000"/>
            </a:pPr>
            <a:r>
              <a:t>It can compare the values of two fields in the same document.</a:t>
            </a:r>
          </a:p>
          <a:p>
            <a:pPr>
              <a:defRPr sz="2000"/>
            </a:pPr>
            <a:r>
              <a:t>This enables conditions that cannot be expressed by comparing a field only with a fixed value.</a:t>
            </a:r>
          </a:p>
          <a:p>
            <a:pPr>
              <a:defRPr sz="2000"/>
            </a:pPr>
            <a:r>
              <a:t>The source uses marks and passingMarks as the conceptual example.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Aggregation — The Next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Aggregation is where MongoDB becomes significantly more powerful for analysis.</a:t>
            </a:r>
          </a:p>
          <a:p>
            <a:pPr>
              <a:defRPr sz="2000"/>
            </a:pPr>
            <a:r>
              <a:t>An aggregation pipeline processes documents through a sequence of stages.</a:t>
            </a:r>
          </a:p>
          <a:p>
            <a:pPr>
              <a:defRPr sz="2000"/>
            </a:pPr>
            <a:r>
              <a:t>Each stage transforms, filters, groups, sorts, or otherwise reshapes the data.</a:t>
            </a:r>
          </a:p>
          <a:p>
            <a:pPr>
              <a:defRPr sz="2000"/>
            </a:pPr>
            <a:r>
              <a:t>Aggregation is central to reporting and analytical queries.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$match — Filter in 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$match filters documents within an aggregation pipeline.</a:t>
            </a:r>
          </a:p>
          <a:p>
            <a:pPr>
              <a:defRPr sz="2000"/>
            </a:pPr>
            <a:r>
              <a:t>It plays a role similar to filtering in a normal find query.</a:t>
            </a:r>
          </a:p>
          <a:p>
            <a:pPr>
              <a:defRPr sz="2000"/>
            </a:pPr>
            <a:r>
              <a:t>Filtering early can reduce the amount of data processed by later stages.</a:t>
            </a:r>
          </a:p>
          <a:p>
            <a:pPr>
              <a:defRPr sz="2000"/>
            </a:pPr>
            <a:r>
              <a:t>The source introduces $match as the starting point for aggregation.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$group — Aggregate 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$group combines documents into groups based on a grouping expression.</a:t>
            </a:r>
          </a:p>
          <a:p>
            <a:pPr>
              <a:defRPr sz="2000"/>
            </a:pPr>
            <a:r>
              <a:t>It can calculate aggregate values such as averages, counts, maximums, and minimums.</a:t>
            </a:r>
          </a:p>
          <a:p>
            <a:pPr>
              <a:defRPr sz="2000"/>
            </a:pPr>
            <a:r>
              <a:t>Grouping by a field enables summaries such as average marks by course.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Aggregation Calculations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$avg calculates an average.</a:t>
            </a:r>
          </a:p>
          <a:p>
            <a:pPr>
              <a:defRPr sz="2000"/>
            </a:pPr>
            <a:r>
              <a:t>$sum calculates a sum or count-style total.</a:t>
            </a:r>
          </a:p>
          <a:p>
            <a:pPr>
              <a:defRPr sz="2000"/>
            </a:pPr>
            <a:r>
              <a:t>$max finds the maximum value.</a:t>
            </a:r>
          </a:p>
          <a:p>
            <a:pPr>
              <a:defRPr sz="2000"/>
            </a:pPr>
            <a:r>
              <a:t>$min finds the minimum value.</a:t>
            </a:r>
          </a:p>
          <a:p>
            <a:pPr>
              <a:defRPr sz="2000"/>
            </a:pPr>
            <a:r>
              <a:t>These accumulators turn document data into summary information.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by a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Grouping by a field creates one output group for each distinct value.</a:t>
            </a:r>
          </a:p>
          <a:p>
            <a:pPr>
              <a:defRPr sz="2000"/>
            </a:pPr>
            <a:r>
              <a:t>For example, students can be grouped by course.</a:t>
            </a:r>
          </a:p>
          <a:p>
            <a:pPr>
              <a:defRPr sz="2000"/>
            </a:pPr>
            <a:r>
              <a:t>Each group can then produce metrics such as average marks or total students.</a:t>
            </a:r>
          </a:p>
          <a:p>
            <a:pPr>
              <a:defRPr sz="2000"/>
            </a:pPr>
            <a:r>
              <a:t>This is a foundation for reporting queries.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$project — Shape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$project controls the fields produced by an aggregation stage.</a:t>
            </a:r>
          </a:p>
          <a:p>
            <a:pPr>
              <a:defRPr sz="2000"/>
            </a:pPr>
            <a:r>
              <a:t>It can select existing fields.</a:t>
            </a:r>
          </a:p>
          <a:p>
            <a:pPr>
              <a:defRPr sz="2000"/>
            </a:pPr>
            <a:r>
              <a:t>It can create calculated fields.</a:t>
            </a:r>
          </a:p>
          <a:p>
            <a:pPr>
              <a:defRPr sz="2000"/>
            </a:pPr>
            <a:r>
              <a:t>The source demonstrates deriving a passed indicator from marks.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$match + $group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common aggregation pattern is to filter first and then group.</a:t>
            </a:r>
          </a:p>
          <a:p>
            <a:pPr>
              <a:defRPr sz="2000"/>
            </a:pPr>
            <a:r>
              <a:t>First identify the relevant population with $match.</a:t>
            </a:r>
          </a:p>
          <a:p>
            <a:pPr>
              <a:defRPr sz="2000"/>
            </a:pPr>
            <a:r>
              <a:t>Then calculate summaries for that population using $group.</a:t>
            </a:r>
          </a:p>
          <a:p>
            <a:pPr>
              <a:defRPr sz="2000"/>
            </a:pPr>
            <a:r>
              <a:t>The source demonstrates average marks of active students by course.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Sorting and Limiting in Aggregation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$sort orders documents produced by the pipeline.</a:t>
            </a:r>
          </a:p>
          <a:p>
            <a:pPr>
              <a:defRPr sz="2000"/>
            </a:pPr>
            <a:r>
              <a:t>$limit restricts the number of pipeline results.</a:t>
            </a:r>
          </a:p>
          <a:p>
            <a:pPr>
              <a:defRPr sz="2000"/>
            </a:pPr>
            <a:r>
              <a:t>Together they can identify top-ranked results.</a:t>
            </a:r>
          </a:p>
          <a:p>
            <a:pPr>
              <a:defRPr sz="2000"/>
            </a:pPr>
            <a:r>
              <a:t>Sorting by an aggregate value can rank groups, such as courses by average marks.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$unwind — Working with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$unwind expands an array so that each array element becomes a separate pipeline document.</a:t>
            </a:r>
          </a:p>
          <a:p>
            <a:pPr>
              <a:defRPr sz="2000"/>
            </a:pPr>
            <a:r>
              <a:t>One student with several skills can therefore produce several pipeline results.</a:t>
            </a:r>
          </a:p>
          <a:p>
            <a:pPr>
              <a:defRPr sz="2000"/>
            </a:pPr>
            <a:r>
              <a:t>This is especially useful when array elements need individual filtering, grouping, or analysis.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$lookup — Combining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$lookup combines documents from another collection.</a:t>
            </a:r>
          </a:p>
          <a:p>
            <a:pPr>
              <a:defRPr sz="2000"/>
            </a:pPr>
            <a:r>
              <a:t>It is conceptually similar to a basic SQL JOIN.</a:t>
            </a:r>
          </a:p>
          <a:p>
            <a:pPr>
              <a:defRPr sz="2000"/>
            </a:pPr>
            <a:r>
              <a:t>The source uses students and courses connected through a course identifier.</a:t>
            </a:r>
          </a:p>
          <a:p>
            <a:pPr>
              <a:defRPr sz="2000"/>
            </a:pPr>
            <a:r>
              <a:t>The joined information is placed into a resulting field.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Pagination divides a large result set into manageable pages.</a:t>
            </a:r>
          </a:p>
          <a:p>
            <a:pPr>
              <a:defRPr sz="2000"/>
            </a:pPr>
            <a:r>
              <a:t>A page number and page size determine how many documents to skip and return.</a:t>
            </a:r>
          </a:p>
          <a:p>
            <a:pPr>
              <a:defRPr sz="2000"/>
            </a:pPr>
            <a:r>
              <a:t>skip is calculated from the page number and limit.</a:t>
            </a:r>
          </a:p>
          <a:p>
            <a:pPr>
              <a:defRPr sz="2000"/>
            </a:pPr>
            <a:r>
              <a:t>The source illustrates the sequence of page 1, page 2, and page 3.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An index improves the ability to locate documents for supported query patterns.</a:t>
            </a:r>
          </a:p>
          <a:p>
            <a:pPr>
              <a:defRPr sz="2000"/>
            </a:pPr>
            <a:r>
              <a:t>Indexes can be created on fields that are commonly queried.</a:t>
            </a:r>
          </a:p>
          <a:p>
            <a:pPr>
              <a:defRPr sz="2000"/>
            </a:pPr>
            <a:r>
              <a:t>A unique index can enforce uniqueness for a field.</a:t>
            </a:r>
          </a:p>
          <a:p>
            <a:pPr>
              <a:defRPr sz="2000"/>
            </a:pPr>
            <a:r>
              <a:t>Indexes can be listed and removed as application requirements change.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Unique Indexes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unique index prevents duplicate indexed values.</a:t>
            </a:r>
          </a:p>
          <a:p>
            <a:pPr>
              <a:defRPr sz="2000"/>
            </a:pPr>
            <a:r>
              <a:t>This is useful for fields that must identify a document or remain unique.</a:t>
            </a:r>
          </a:p>
          <a:p>
            <a:pPr>
              <a:defRPr sz="2000"/>
            </a:pPr>
            <a:r>
              <a:t>The source uses email as the conceptual example.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 Query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explain facility shows how MongoDB executes a query.</a:t>
            </a:r>
          </a:p>
          <a:p>
            <a:pPr>
              <a:defRPr sz="2000"/>
            </a:pPr>
            <a:r>
              <a:t>Execution statistics provide insight into query behavior and performance.</a:t>
            </a:r>
          </a:p>
          <a:p>
            <a:pPr>
              <a:defRPr sz="2000"/>
            </a:pPr>
            <a:r>
              <a:t>Understanding query execution is an important intermediate-level skill.</a:t>
            </a:r>
          </a:p>
          <a:p>
            <a:pPr>
              <a:defRPr sz="2000"/>
            </a:pPr>
            <a:r>
              <a:t>It helps developers reason about whether indexes and query patterns are effective.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Distinct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distinct operation returns unique values for a field.</a:t>
            </a:r>
          </a:p>
          <a:p>
            <a:pPr>
              <a:defRPr sz="2000"/>
            </a:pPr>
            <a:r>
              <a:t>It is useful for discovering the different categories represented in a collection.</a:t>
            </a:r>
          </a:p>
          <a:p>
            <a:pPr>
              <a:defRPr sz="2000"/>
            </a:pPr>
            <a:r>
              <a:t>The source demonstrates distinct courses and cities.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 Practical Query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Real queries often combine several techniques.</a:t>
            </a:r>
          </a:p>
          <a:p>
            <a:pPr>
              <a:defRPr sz="2000"/>
            </a:pPr>
            <a:r>
              <a:t>The source combines filtering, multiple conditions, projection, sorting, and limiting.</a:t>
            </a:r>
          </a:p>
          <a:p>
            <a:pPr>
              <a:defRPr sz="2000"/>
            </a:pPr>
            <a:r>
              <a:t>The objective is to retrieve a focused result set rather than simply return all matching documents.</a:t>
            </a:r>
          </a:p>
          <a:p>
            <a:pPr>
              <a:defRPr sz="2000"/>
            </a:pPr>
            <a:r>
              <a:t>This demonstrates how individual MongoDB concepts work together.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Query — Conceptual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Filtering identifies the required population.</a:t>
            </a:r>
          </a:p>
          <a:p>
            <a:pPr>
              <a:defRPr sz="2000"/>
            </a:pPr>
            <a:r>
              <a:t>Multiple conditions narrow the result further.</a:t>
            </a:r>
          </a:p>
          <a:p>
            <a:pPr>
              <a:defRPr sz="2000"/>
            </a:pPr>
            <a:r>
              <a:t>Projection controls which fields are returned.</a:t>
            </a:r>
          </a:p>
          <a:p>
            <a:pPr>
              <a:defRPr sz="2000"/>
            </a:pPr>
            <a:r>
              <a:t>Sorting establishes the required order.</a:t>
            </a:r>
          </a:p>
          <a:p>
            <a:pPr>
              <a:defRPr sz="2000"/>
            </a:pPr>
            <a:r>
              <a:t>Limiting returns only the desired number of results.</a:t>
            </a:r>
          </a:p>
          <a:p>
            <a:pPr>
              <a:defRPr sz="2000"/>
            </a:pPr>
            <a:r>
              <a:t>This layered approach is a useful mental model for constructing MongoDB queries.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Basic to Intermediate — Skill Progression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sz="1800" dirty="0"/>
              <a:t>Start with databases, collections, and documents.</a:t>
            </a:r>
          </a:p>
          <a:p>
            <a:pPr>
              <a:defRPr sz="2000"/>
            </a:pPr>
            <a:r>
              <a:rPr sz="1800" dirty="0"/>
              <a:t>Learn filtering with comparison and logical operators.</a:t>
            </a:r>
          </a:p>
          <a:p>
            <a:pPr>
              <a:defRPr sz="2000"/>
            </a:pPr>
            <a:r>
              <a:rPr sz="1800" dirty="0"/>
              <a:t>Control result shape and order with projection and sorting.</a:t>
            </a:r>
          </a:p>
          <a:p>
            <a:pPr>
              <a:defRPr sz="2000"/>
            </a:pPr>
            <a:r>
              <a:rPr sz="1800" dirty="0"/>
              <a:t>Modify data with update operators.</a:t>
            </a:r>
          </a:p>
          <a:p>
            <a:pPr>
              <a:defRPr sz="2000"/>
            </a:pPr>
            <a:r>
              <a:rPr sz="1800" dirty="0"/>
              <a:t>Work confidently with arrays and embedded documents.</a:t>
            </a:r>
          </a:p>
          <a:p>
            <a:pPr>
              <a:defRPr sz="2000"/>
            </a:pPr>
            <a:r>
              <a:rPr sz="1800" dirty="0"/>
              <a:t>Use aggregation for analysis and reporting.</a:t>
            </a:r>
          </a:p>
          <a:p>
            <a:pPr>
              <a:defRPr sz="2000"/>
            </a:pPr>
            <a:r>
              <a:rPr sz="1800" dirty="0"/>
              <a:t>Introduce pagination, indexes, explain, and distinct for practical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Final Theme</Template>
  <TotalTime>2</TotalTime>
  <Words>2508</Words>
  <Application>Microsoft Office PowerPoint</Application>
  <PresentationFormat>Widescreen</PresentationFormat>
  <Paragraphs>278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Calibri</vt:lpstr>
      <vt:lpstr>IBM Plex Sans</vt:lpstr>
      <vt:lpstr>Quicksand</vt:lpstr>
      <vt:lpstr>ABC Final Theme</vt:lpstr>
      <vt:lpstr>MongoDB — Basic to Intermediate</vt:lpstr>
      <vt:lpstr>Learning Roadmap</vt:lpstr>
      <vt:lpstr>Practice Data Model</vt:lpstr>
      <vt:lpstr>MongoDB Database Fundamentals</vt:lpstr>
      <vt:lpstr>Collections and Documents</vt:lpstr>
      <vt:lpstr>Inserting Documents</vt:lpstr>
      <vt:lpstr>Reading Documents</vt:lpstr>
      <vt:lpstr>Comparison Operators</vt:lpstr>
      <vt:lpstr>Using Comparison Conditions</vt:lpstr>
      <vt:lpstr>Logical Operators</vt:lpstr>
      <vt:lpstr>Implicit AND Conditions</vt:lpstr>
      <vt:lpstr>Projection</vt:lpstr>
      <vt:lpstr>Projection Rules</vt:lpstr>
      <vt:lpstr>Sorting Results</vt:lpstr>
      <vt:lpstr>Limit and Skip</vt:lpstr>
      <vt:lpstr>Counting Documents</vt:lpstr>
      <vt:lpstr>Updating Documents</vt:lpstr>
      <vt:lpstr>$set — Updating Fields</vt:lpstr>
      <vt:lpstr>$unset — Removing Fields</vt:lpstr>
      <vt:lpstr>$inc — Incrementing Values</vt:lpstr>
      <vt:lpstr>updateMany and Bulk Changes</vt:lpstr>
      <vt:lpstr>$mul — Multiplying Numeric Values</vt:lpstr>
      <vt:lpstr>Upsert</vt:lpstr>
      <vt:lpstr>Replace vs Update</vt:lpstr>
      <vt:lpstr>Deleting Documents</vt:lpstr>
      <vt:lpstr>Working with Arrays</vt:lpstr>
      <vt:lpstr>$in with Arrays</vt:lpstr>
      <vt:lpstr>$all — Require Multiple Array Values</vt:lpstr>
      <vt:lpstr>$size — Match Array Length</vt:lpstr>
      <vt:lpstr>Updating Arrays</vt:lpstr>
      <vt:lpstr>$addToSet vs $push</vt:lpstr>
      <vt:lpstr>Embedded Documents</vt:lpstr>
      <vt:lpstr>Dot Notation for Nested Fields</vt:lpstr>
      <vt:lpstr>Regular Expressions</vt:lpstr>
      <vt:lpstr>$exists and $type</vt:lpstr>
      <vt:lpstr>$expr — Compare Fields</vt:lpstr>
      <vt:lpstr>Aggregation — The Next Level</vt:lpstr>
      <vt:lpstr>$match — Filter in a Pipeline</vt:lpstr>
      <vt:lpstr>$group — Aggregate Documents</vt:lpstr>
      <vt:lpstr>Aggregation Calculations</vt:lpstr>
      <vt:lpstr>Group by a Field</vt:lpstr>
      <vt:lpstr>$project — Shape the Result</vt:lpstr>
      <vt:lpstr>$match + $group Pattern</vt:lpstr>
      <vt:lpstr>Sorting and Limiting in Aggregation</vt:lpstr>
      <vt:lpstr>$unwind — Working with Arrays</vt:lpstr>
      <vt:lpstr>$lookup — Combining Collections</vt:lpstr>
      <vt:lpstr>Pagination</vt:lpstr>
      <vt:lpstr>Indexes</vt:lpstr>
      <vt:lpstr>Unique Indexes</vt:lpstr>
      <vt:lpstr>Explain Query Performance</vt:lpstr>
      <vt:lpstr>Distinct Values</vt:lpstr>
      <vt:lpstr>Building a Practical Query</vt:lpstr>
      <vt:lpstr>Practical Query — Conceptual Flow</vt:lpstr>
      <vt:lpstr>Basic to Intermediate — Skill Progression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cp:lastModifiedBy>Rakesh Kr</cp:lastModifiedBy>
  <cp:revision>2</cp:revision>
  <dcterms:created xsi:type="dcterms:W3CDTF">2013-01-27T09:14:16Z</dcterms:created>
  <dcterms:modified xsi:type="dcterms:W3CDTF">2026-09-21T02:36:40Z</dcterms:modified>
  <cp:category/>
</cp:coreProperties>
</file>